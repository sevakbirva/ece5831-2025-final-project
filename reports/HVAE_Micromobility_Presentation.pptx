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80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6201" y="1075112"/>
            <a:ext cx="6387649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10"/>
              </a:lnSpc>
              <a:spcAft>
                <a:spcPts val="15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Multi-Task Rider Behavior Modeling</a:t>
            </a:r>
            <a:endParaRPr lang="en-US" sz="2700" dirty="0"/>
          </a:p>
          <a:p>
            <a:pPr marL="0" indent="0" algn="ctr">
              <a:lnSpc>
                <a:spcPts val="3510"/>
              </a:lnSpc>
              <a:spcAft>
                <a:spcPts val="15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Micromobility Systems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693264" y="2752725"/>
            <a:ext cx="38335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E8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Variational Autoencoder for Joint Prediction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23707" y="3613696"/>
            <a:ext cx="257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Birva Sevak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Shrenik Jadhav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23707" y="3876526"/>
            <a:ext cx="25727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B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and Information Science</a:t>
            </a:r>
            <a:endParaRPr lang="en-US" sz="900" dirty="0"/>
          </a:p>
          <a:p>
            <a:pPr marL="0" indent="0" algn="ctr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B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 of Michigan-Dearborn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B9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Conference Paper • ECE 5831 Course Project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60430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Fragmented Prediction Approaches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379339"/>
            <a:ext cx="4171950" cy="859036"/>
          </a:xfrm>
          <a:prstGeom prst="roundRect">
            <a:avLst>
              <a:gd name="adj" fmla="val 443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379339"/>
            <a:ext cx="0" cy="85903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6250" y="1512689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76250" y="1762125"/>
            <a:ext cx="39444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build </a:t>
            </a:r>
            <a:r>
              <a:rPr lang="en-US" sz="9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models</a:t>
            </a: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trip duration, demand forecasting, rider classification, and anomaly detection.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4800" y="2371725"/>
            <a:ext cx="4171950" cy="1659136"/>
          </a:xfrm>
          <a:prstGeom prst="roundRect">
            <a:avLst>
              <a:gd name="adj" fmla="val 2296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250507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Fails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2754511"/>
            <a:ext cx="3905250" cy="114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shared latent factors (trip purpose, time context)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Discards rich behavioral structure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engineering effort across tasks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7250" y="1512689"/>
            <a:ext cx="4171950" cy="859036"/>
          </a:xfrm>
          <a:prstGeom prst="roundRect">
            <a:avLst>
              <a:gd name="adj" fmla="val 4435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86300" y="1512689"/>
            <a:ext cx="0" cy="859036"/>
          </a:xfrm>
          <a:prstGeom prst="line">
            <a:avLst/>
          </a:prstGeom>
          <a:noFill/>
          <a:ln w="38100">
            <a:solidFill>
              <a:srgbClr val="1A5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38700" y="1646039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Hypothesis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38700" y="1895475"/>
            <a:ext cx="39444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latent </a:t>
            </a:r>
            <a:r>
              <a:rPr lang="en-US" sz="9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"trip intent"</a:t>
            </a: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learnable construct from trip-start data that can predict multiple behavioral outcomes.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7250" y="2505075"/>
            <a:ext cx="4171950" cy="1392436"/>
          </a:xfrm>
          <a:prstGeom prst="roundRect">
            <a:avLst>
              <a:gd name="adj" fmla="val 273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263842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Value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00600" y="2887861"/>
            <a:ext cx="39052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forecast at trip unlock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fleet management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rebalancing strategies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leisure rider vs. weekday commuter exhibits markedly different patterns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95400"/>
            <a:ext cx="4057650" cy="1095375"/>
          </a:xfrm>
          <a:prstGeom prst="roundRect">
            <a:avLst>
              <a:gd name="adj" fmla="val 5217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314450"/>
            <a:ext cx="4057650" cy="0"/>
          </a:xfrm>
          <a:prstGeom prst="line">
            <a:avLst/>
          </a:prstGeom>
          <a:noFill/>
          <a:ln w="38100">
            <a:solidFill>
              <a:srgbClr val="1A5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1570732"/>
            <a:ext cx="17873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Multi-Task Framework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28650" y="1905000"/>
            <a:ext cx="37890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Jointly predicts trip duration, demand contribution, and rideable type from trip initiation features using shared latent representations.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05350" y="1295400"/>
            <a:ext cx="4057650" cy="1095375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05350" y="1314450"/>
            <a:ext cx="405765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95900" y="1570732"/>
            <a:ext cx="15863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Latent Space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876800" y="1905000"/>
            <a:ext cx="37890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meaningful trip intent factors, enabling operators to understand behavioral drivers behind predictions.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57200" y="3438525"/>
            <a:ext cx="4057650" cy="1095375"/>
          </a:xfrm>
          <a:prstGeom prst="roundRect">
            <a:avLst>
              <a:gd name="adj" fmla="val 521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3457575"/>
            <a:ext cx="405765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3713857"/>
            <a:ext cx="13266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Performance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8650" y="4048125"/>
            <a:ext cx="37890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Multi-task learning with shared encoders outperforms independent single-task baselines on large-scale real-world data.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05350" y="3438525"/>
            <a:ext cx="4057650" cy="1095375"/>
          </a:xfrm>
          <a:prstGeom prst="roundRect">
            <a:avLst>
              <a:gd name="adj" fmla="val 5217"/>
            </a:avLst>
          </a:prstGeom>
          <a:solidFill>
            <a:srgbClr val="F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05350" y="3457575"/>
            <a:ext cx="4057650" cy="0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95900" y="3713857"/>
            <a:ext cx="16496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Mode Discovery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76800" y="4048125"/>
            <a:ext cx="37890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representation analysis reveals operationally relevant modes: weekday commuting, weekend leisure, and potential misuse.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application of hierarchical multi-task learning to comprehensive bike sharing behavior prediction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9451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Divvy Chicago Bike Sharing</a:t>
            </a:r>
            <a:endParaRPr lang="en-US" sz="2400" dirty="0"/>
          </a:p>
        </p:txBody>
      </p:sp>
      <p:pic>
        <p:nvPicPr>
          <p:cNvPr id="3" name="Image 0" descr="/tmp/rasterized-gradient-d6f02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12813"/>
            <a:ext cx="4038600" cy="1139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1124" y="1503313"/>
            <a:ext cx="3730752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5.77M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11124" y="2101453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8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Trip Records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566243"/>
            <a:ext cx="4038600" cy="841772"/>
          </a:xfrm>
          <a:prstGeom prst="roundRect">
            <a:avLst>
              <a:gd name="adj" fmla="val 6789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0550" y="269959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90550" y="2903339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2024 – March 2025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0550" y="312807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 of comprehensive coverage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57200" y="3522315"/>
            <a:ext cx="4038600" cy="994172"/>
          </a:xfrm>
          <a:prstGeom prst="roundRect">
            <a:avLst>
              <a:gd name="adj" fmla="val 5749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0550" y="365566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RIDEABLE TYPES (TEST SET)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90550" y="3878461"/>
            <a:ext cx="1206550" cy="504676"/>
          </a:xfrm>
          <a:prstGeom prst="roundRect">
            <a:avLst>
              <a:gd name="adj" fmla="val 7549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56209" y="3954661"/>
            <a:ext cx="10752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52.8%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6209" y="4186982"/>
            <a:ext cx="10752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E-Bike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1873300" y="3878461"/>
            <a:ext cx="1206550" cy="504676"/>
          </a:xfrm>
          <a:prstGeom prst="roundRect">
            <a:avLst>
              <a:gd name="adj" fmla="val 754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938958" y="3954661"/>
            <a:ext cx="10752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44.6%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938958" y="4186982"/>
            <a:ext cx="10752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3156049" y="3878461"/>
            <a:ext cx="1206550" cy="504676"/>
          </a:xfrm>
          <a:prstGeom prst="roundRect">
            <a:avLst>
              <a:gd name="adj" fmla="val 7549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21708" y="3954661"/>
            <a:ext cx="10752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21708" y="4186982"/>
            <a:ext cx="10752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Scooter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724400" y="1026021"/>
            <a:ext cx="4038600" cy="1036290"/>
          </a:xfrm>
          <a:prstGeom prst="roundRect">
            <a:avLst>
              <a:gd name="adj" fmla="val 5515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43450" y="1026021"/>
            <a:ext cx="0" cy="1036290"/>
          </a:xfrm>
          <a:prstGeom prst="line">
            <a:avLst/>
          </a:prstGeom>
          <a:noFill/>
          <a:ln w="38100">
            <a:solidFill>
              <a:srgbClr val="1A5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95850" y="1159371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TEMPORAL SPLIT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24400" y="2176611"/>
            <a:ext cx="4038600" cy="1670596"/>
          </a:xfrm>
          <a:prstGeom prst="roundRect">
            <a:avLst>
              <a:gd name="adj" fmla="val 3421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57750" y="230996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ATTRIBUTES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57750" y="2532757"/>
            <a:ext cx="37719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Temporal: Start/end timestamps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Spatial: Station IDs, GPS coords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Rider: Member vs. casual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Vehicle: Rideable type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724400" y="3961507"/>
            <a:ext cx="4038600" cy="841772"/>
          </a:xfrm>
          <a:prstGeom prst="roundRect">
            <a:avLst>
              <a:gd name="adj" fmla="val 6789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857750" y="409485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STATISTICS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52748" y="4317653"/>
            <a:ext cx="5102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52748" y="4549973"/>
            <a:ext cx="5102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(min)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5467926" y="4317653"/>
            <a:ext cx="4422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15.28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67926" y="4549973"/>
            <a:ext cx="4422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(min)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6016283" y="4317653"/>
            <a:ext cx="3890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94.08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16283" y="4549973"/>
            <a:ext cx="3890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 (min)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removed 7,041 trips (0.12%) with invalid durations. Source: Divvy/Cyclistic public dataset via Kaggle.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1297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Architecture: Hierarchical VAE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41264"/>
            <a:ext cx="1333500" cy="1518196"/>
          </a:xfrm>
          <a:prstGeom prst="roundRect">
            <a:avLst>
              <a:gd name="adj" fmla="val 4286"/>
            </a:avLst>
          </a:prstGeom>
          <a:solidFill>
            <a:srgbClr val="F7F9FA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9882" y="1674614"/>
            <a:ext cx="10881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90550" y="1897410"/>
            <a:ext cx="108813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Categorical: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Start station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End station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Member type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Numeric: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Hour, weekday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GPS coords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Duration (target)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1866900" y="216693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33600" y="1541264"/>
            <a:ext cx="1428750" cy="1518196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 w="19050">
            <a:solidFill>
              <a:srgbClr val="1A535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55330" y="1674614"/>
            <a:ext cx="11852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ENCODER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266950" y="1897410"/>
            <a:ext cx="118529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Embeddings: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Station → 32d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Member → 4d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Encoder: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2-layer MLP</a:t>
            </a:r>
            <a:endParaRPr lang="en-US" sz="675" dirty="0"/>
          </a:p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h ∈ ℝ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638550" y="216693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11" name="Image 0" descr="/tmp/rasterized-gradient-ec214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1541264"/>
            <a:ext cx="1714500" cy="15181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04691" y="1655564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LATENT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019550" y="1878360"/>
            <a:ext cx="1485900" cy="437108"/>
          </a:xfrm>
          <a:prstGeom prst="roundRect">
            <a:avLst>
              <a:gd name="adj" fmla="val 871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095750" y="1954560"/>
            <a:ext cx="136017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r>
              <a:rPr lang="en-US" sz="675" dirty="0">
                <a:solidFill>
                  <a:srgbClr val="E8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ℝ — Global Intent</a:t>
            </a:r>
            <a:endParaRPr lang="en-US" sz="675" dirty="0"/>
          </a:p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75" dirty="0"/>
          </a:p>
          <a:p>
            <a:pPr marL="0" indent="0" algn="l">
              <a:lnSpc>
                <a:spcPts val="945"/>
              </a:lnSpc>
              <a:buNone/>
            </a:pPr>
            <a:r>
              <a:rPr lang="en-US" sz="600" dirty="0">
                <a:solidFill>
                  <a:srgbClr val="B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Population-level trip purpose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4019550" y="2372618"/>
            <a:ext cx="1485900" cy="437108"/>
          </a:xfrm>
          <a:prstGeom prst="roundRect">
            <a:avLst>
              <a:gd name="adj" fmla="val 871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95750" y="2448818"/>
            <a:ext cx="136017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r>
              <a:rPr lang="en-US" sz="675" dirty="0">
                <a:solidFill>
                  <a:srgbClr val="E8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ℝ — Individual</a:t>
            </a:r>
            <a:endParaRPr lang="en-US" sz="675" dirty="0"/>
          </a:p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75" dirty="0"/>
          </a:p>
          <a:p>
            <a:pPr marL="0" indent="0" algn="l">
              <a:lnSpc>
                <a:spcPts val="945"/>
              </a:lnSpc>
              <a:buNone/>
            </a:pPr>
            <a:r>
              <a:rPr lang="en-US" sz="600" dirty="0">
                <a:solidFill>
                  <a:srgbClr val="B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Rider-specific deviation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5695950" y="216693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62650" y="1541264"/>
            <a:ext cx="2800350" cy="1518196"/>
          </a:xfrm>
          <a:prstGeom prst="roundRect">
            <a:avLst>
              <a:gd name="adj" fmla="val 3764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070664" y="1674614"/>
            <a:ext cx="25843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MULTI-TASK DECODER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096000" y="1897410"/>
            <a:ext cx="2584323" cy="68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backbone:</a:t>
            </a: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2-layer MLP</a:t>
            </a:r>
            <a:endParaRPr lang="en-US" sz="675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75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heads:</a:t>
            </a:r>
            <a:endParaRPr lang="en-US" sz="675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Duration (Gaussian NLL)</a:t>
            </a:r>
            <a:endParaRPr lang="en-US" sz="675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Demand (MSE regression)</a:t>
            </a:r>
            <a:endParaRPr lang="en-US" sz="675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Rideable type (Cross-entropy)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57200" y="3255913"/>
            <a:ext cx="2781300" cy="565696"/>
          </a:xfrm>
          <a:prstGeom prst="roundRect">
            <a:avLst>
              <a:gd name="adj" fmla="val 10103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71500" y="3370213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REPARAMETERIZATION TRICK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71500" y="3560713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μ + σ ⊙ ε,   ε ~ N(0, I)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3390900" y="3249960"/>
            <a:ext cx="5372100" cy="577751"/>
          </a:xfrm>
          <a:prstGeom prst="roundRect">
            <a:avLst>
              <a:gd name="adj" fmla="val 989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3409950" y="3249960"/>
            <a:ext cx="0" cy="577751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543300" y="3364260"/>
            <a:ext cx="52075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LOSS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543300" y="3554760"/>
            <a:ext cx="520750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Ldur + Ldemand + Lbike + βg·KL(q(zg)||p(zg)) + βi·KL(q(zi)||p(zi))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57200" y="3942011"/>
            <a:ext cx="1962150" cy="346025"/>
          </a:xfrm>
          <a:prstGeom prst="roundRect">
            <a:avLst>
              <a:gd name="adj" fmla="val 16516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90550" y="4037261"/>
            <a:ext cx="1729359" cy="155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</a:t>
            </a: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Adam, lr=10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571750" y="3953024"/>
            <a:ext cx="1962150" cy="323850"/>
          </a:xfrm>
          <a:prstGeom prst="roundRect">
            <a:avLst>
              <a:gd name="adj" fmla="val 17647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705100" y="4048274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</a:t>
            </a: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2048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686300" y="3953024"/>
            <a:ext cx="1962150" cy="323850"/>
          </a:xfrm>
          <a:prstGeom prst="roundRect">
            <a:avLst>
              <a:gd name="adj" fmla="val 17647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19650" y="4048274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clip:</a:t>
            </a: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||∇||₂ ≤ 1.0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800850" y="3953024"/>
            <a:ext cx="1962150" cy="323850"/>
          </a:xfrm>
          <a:prstGeom prst="roundRect">
            <a:avLst>
              <a:gd name="adj" fmla="val 17647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934200" y="4048274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</a:t>
            </a: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 (early stop)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04800" y="4756249"/>
            <a:ext cx="870508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structure enforces inductive bias: zg captures shared patterns, zi models residual variation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Multi-Task Formulation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16372"/>
            <a:ext cx="2667000" cy="3396555"/>
          </a:xfrm>
          <a:prstGeom prst="roundRect">
            <a:avLst>
              <a:gd name="adj" fmla="val 2857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240185"/>
            <a:ext cx="2667000" cy="0"/>
          </a:xfrm>
          <a:prstGeom prst="line">
            <a:avLst/>
          </a:prstGeom>
          <a:noFill/>
          <a:ln w="47625">
            <a:solidFill>
              <a:srgbClr val="1A5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5978" y="1854547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Duration Prediction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34518"/>
            <a:ext cx="2362200" cy="737295"/>
          </a:xfrm>
          <a:prstGeom prst="roundRect">
            <a:avLst>
              <a:gd name="adj" fmla="val 77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2448818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23900" y="2639318"/>
            <a:ext cx="2176272" cy="318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Heteroscedastic Gaussian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p(d | z) = N(μ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σ²)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09600" y="3319463"/>
            <a:ext cx="2362200" cy="569565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" y="3433763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23900" y="3624263"/>
            <a:ext cx="2176272" cy="15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675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Ldur = ½[log(2π) + log σ² + (d-μ)²/σ²]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609600" y="4136678"/>
            <a:ext cx="2362200" cy="323850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850" y="4231928"/>
            <a:ext cx="22151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Uncertainty quantification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76600" y="1191667"/>
            <a:ext cx="2667000" cy="3445818"/>
          </a:xfrm>
          <a:prstGeom prst="roundRect">
            <a:avLst>
              <a:gd name="adj" fmla="val 285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76600" y="1215479"/>
            <a:ext cx="2667000" cy="0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5378" y="1829842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Contribution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309813"/>
            <a:ext cx="2362200" cy="762595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43300" y="2424113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43300" y="2614613"/>
            <a:ext cx="2176272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ŷ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wd + b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429000" y="3320058"/>
            <a:ext cx="2362200" cy="593527"/>
          </a:xfrm>
          <a:prstGeom prst="roundRect">
            <a:avLst>
              <a:gd name="adj" fmla="val 96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43300" y="3434358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543300" y="3624858"/>
            <a:ext cx="2176272" cy="17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Ldemand = (y - ŷ)²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29000" y="4161234"/>
            <a:ext cx="2362200" cy="323850"/>
          </a:xfrm>
          <a:prstGeom prst="roundRect">
            <a:avLst>
              <a:gd name="adj" fmla="val 17647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24250" y="4256484"/>
            <a:ext cx="22151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normalized station share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96000" y="1204317"/>
            <a:ext cx="2667000" cy="3420517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0" y="1228130"/>
            <a:ext cx="2667000" cy="0"/>
          </a:xfrm>
          <a:prstGeom prst="line">
            <a:avLst/>
          </a:prstGeom>
          <a:noFill/>
          <a:ln w="476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24778" y="1842492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Rideable Type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48400" y="2322463"/>
            <a:ext cx="2362200" cy="737295"/>
          </a:xfrm>
          <a:prstGeom prst="roundRect">
            <a:avLst>
              <a:gd name="adj" fmla="val 77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62700" y="2436763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62700" y="2627263"/>
            <a:ext cx="2176272" cy="318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Softmax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Softmax(Wd + b)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248400" y="3307407"/>
            <a:ext cx="2362200" cy="593527"/>
          </a:xfrm>
          <a:prstGeom prst="roundRect">
            <a:avLst>
              <a:gd name="adj" fmla="val 96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62700" y="3421707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62700" y="3612207"/>
            <a:ext cx="2176272" cy="17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Lbike = -Σ 1[c=k] log pk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48400" y="4148584"/>
            <a:ext cx="2362200" cy="323850"/>
          </a:xfrm>
          <a:prstGeom prst="roundRect">
            <a:avLst>
              <a:gd name="adj" fmla="val 17647"/>
            </a:avLst>
          </a:prstGeom>
          <a:solidFill>
            <a:srgbClr val="F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43650" y="4243834"/>
            <a:ext cx="22151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Classes: E-bike, Classic, Scooter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04800" y="4756249"/>
            <a:ext cx="870508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task heads share the same latent representation [zg; zi] ∈ ℝ³² through a common decoder backbone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13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HVAE Outperforms Baselines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92709"/>
            <a:ext cx="8305800" cy="2935337"/>
          </a:xfrm>
          <a:prstGeom prst="roundRect">
            <a:avLst>
              <a:gd name="adj" fmla="val 2596"/>
            </a:avLst>
          </a:prstGeom>
          <a:solidFill>
            <a:srgbClr val="F7F9FA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202234"/>
            <a:ext cx="8286750" cy="337096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297484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/ Metric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766376" y="1297484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HVAE (Ours)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423726" y="1297484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081076" y="1297484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466725" y="1829842"/>
            <a:ext cx="8286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125" y="1615529"/>
            <a:ext cx="8141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PREDICTION (log1p minutes)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725" y="1834604"/>
            <a:ext cx="8286750" cy="2838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725" y="2113657"/>
            <a:ext cx="8286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9125" y="1898452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766376" y="1891754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23726" y="1891754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81076" y="1898452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32.9%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6725" y="2118420"/>
            <a:ext cx="8286750" cy="2838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" y="2397472"/>
            <a:ext cx="8286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125" y="2182267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766376" y="2175570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23726" y="2175570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1076" y="2182267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33.1%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6725" y="2402235"/>
            <a:ext cx="8286750" cy="2838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725" y="2681288"/>
            <a:ext cx="8286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9125" y="2466082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766376" y="2459385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23726" y="2459385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1076" y="2466082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14.8%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66725" y="2686050"/>
            <a:ext cx="8286750" cy="295275"/>
          </a:xfrm>
          <a:prstGeom prst="rect">
            <a:avLst/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6725" y="2976562"/>
            <a:ext cx="8286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125" y="2762250"/>
            <a:ext cx="8141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CONTRIBUTION (normalized)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725" y="2981325"/>
            <a:ext cx="8286750" cy="2838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6725" y="3260378"/>
            <a:ext cx="8286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9125" y="3045172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766376" y="3038475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0.0087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23726" y="3038475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0.0124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81076" y="3045172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29.8%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66725" y="3265140"/>
            <a:ext cx="8286750" cy="2838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6725" y="3544193"/>
            <a:ext cx="8286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9125" y="3328988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3766376" y="3322290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23726" y="3322290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81076" y="3328988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22.8%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466725" y="3548955"/>
            <a:ext cx="8286750" cy="295275"/>
          </a:xfrm>
          <a:prstGeom prst="rect">
            <a:avLst/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66725" y="3839468"/>
            <a:ext cx="8286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9125" y="3625155"/>
            <a:ext cx="8141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RIDEABLE TYPE CLASSIFICATION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66725" y="3844230"/>
            <a:ext cx="8286750" cy="2742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9125" y="3908078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3766376" y="3901380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89.86%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23726" y="3901380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84.17%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81076" y="3908078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5.7pp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457200" y="4261396"/>
            <a:ext cx="2667000" cy="375196"/>
          </a:xfrm>
          <a:prstGeom prst="roundRect">
            <a:avLst>
              <a:gd name="adj" fmla="val 15232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476250" y="4261396"/>
            <a:ext cx="0" cy="375196"/>
          </a:xfrm>
          <a:prstGeom prst="line">
            <a:avLst/>
          </a:prstGeom>
          <a:noFill/>
          <a:ln w="38100">
            <a:solidFill>
              <a:srgbClr val="1A5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7700" y="4375696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baseline:</a:t>
            </a: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XGBoost regression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3276600" y="4261396"/>
            <a:ext cx="2667000" cy="375196"/>
          </a:xfrm>
          <a:prstGeom prst="roundRect">
            <a:avLst>
              <a:gd name="adj" fmla="val 1523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3295650" y="4261396"/>
            <a:ext cx="0" cy="37519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467100" y="4375696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baseline:</a:t>
            </a: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Ridge regression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6096000" y="4261396"/>
            <a:ext cx="2667000" cy="375196"/>
          </a:xfrm>
          <a:prstGeom prst="roundRect">
            <a:avLst>
              <a:gd name="adj" fmla="val 15232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6115050" y="4261396"/>
            <a:ext cx="0" cy="37519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286500" y="4375696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Rideable baseline:</a:t>
            </a: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 Forest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set: N=604,401 trips (March 2025). All baselines trained on identical features. Per-class F1: E-Bike 0.910, Classic 0.903, Scooter 0.614.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5669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Latent Space Reveals Trip Intent Clusters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60190"/>
            <a:ext cx="3762479" cy="171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CLUSTERING ON zg (K=8)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57200" y="2046089"/>
            <a:ext cx="1815703" cy="462855"/>
          </a:xfrm>
          <a:prstGeom prst="roundRect">
            <a:avLst>
              <a:gd name="adj" fmla="val 8232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1488" y="2046089"/>
            <a:ext cx="0" cy="462855"/>
          </a:xfrm>
          <a:prstGeom prst="line">
            <a:avLst/>
          </a:prstGeom>
          <a:noFill/>
          <a:ln w="28575">
            <a:solidFill>
              <a:srgbClr val="1A5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1025" y="2141339"/>
            <a:ext cx="16285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C0: Weekday Commute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1025" y="2293739"/>
            <a:ext cx="16285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 • 8.2 min • 68% peak hr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330053" y="2046089"/>
            <a:ext cx="1815852" cy="462855"/>
          </a:xfrm>
          <a:prstGeom prst="roundRect">
            <a:avLst>
              <a:gd name="adj" fmla="val 823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344341" y="2046089"/>
            <a:ext cx="0" cy="462855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3878" y="2141339"/>
            <a:ext cx="16287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Weekend Leisure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53878" y="2293739"/>
            <a:ext cx="16287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 • 24.6 min • 89% wknd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57200" y="2566095"/>
            <a:ext cx="1815703" cy="462855"/>
          </a:xfrm>
          <a:prstGeom prst="roundRect">
            <a:avLst>
              <a:gd name="adj" fmla="val 8232"/>
            </a:avLst>
          </a:prstGeom>
          <a:solidFill>
            <a:srgbClr val="F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1488" y="2566095"/>
            <a:ext cx="0" cy="462855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1025" y="2661345"/>
            <a:ext cx="16285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Tourist Exploration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81025" y="2813745"/>
            <a:ext cx="16285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 • 42.3 min • 91% casual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330053" y="2566095"/>
            <a:ext cx="1815852" cy="462855"/>
          </a:xfrm>
          <a:prstGeom prst="roundRect">
            <a:avLst>
              <a:gd name="adj" fmla="val 8232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344341" y="2566095"/>
            <a:ext cx="0" cy="4628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53878" y="2661345"/>
            <a:ext cx="16287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Short Errands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53878" y="2813745"/>
            <a:ext cx="16287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 • 6.1 min • 61% peak hr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57200" y="3086100"/>
            <a:ext cx="1815703" cy="462855"/>
          </a:xfrm>
          <a:prstGeom prst="roundRect">
            <a:avLst>
              <a:gd name="adj" fmla="val 8232"/>
            </a:avLst>
          </a:prstGeom>
          <a:solidFill>
            <a:srgbClr val="FEF9C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1488" y="3086100"/>
            <a:ext cx="0" cy="462855"/>
          </a:xfrm>
          <a:prstGeom prst="line">
            <a:avLst/>
          </a:prstGeom>
          <a:noFill/>
          <a:ln w="28575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1025" y="3181350"/>
            <a:ext cx="16285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C5: Roundtrip Exercise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81025" y="3333750"/>
            <a:ext cx="16285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 • 11.3 min • 68% round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330053" y="3086100"/>
            <a:ext cx="1815852" cy="462855"/>
          </a:xfrm>
          <a:prstGeom prst="roundRect">
            <a:avLst>
              <a:gd name="adj" fmla="val 823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344341" y="3086100"/>
            <a:ext cx="0" cy="462855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53878" y="3181350"/>
            <a:ext cx="16287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C6: Rush Hour Transit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453878" y="3333750"/>
            <a:ext cx="16287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 • 7.4 min • 74% peak hr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57200" y="3606105"/>
            <a:ext cx="1815703" cy="462855"/>
          </a:xfrm>
          <a:prstGeom prst="roundRect">
            <a:avLst>
              <a:gd name="adj" fmla="val 8232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1488" y="3606105"/>
            <a:ext cx="0" cy="462855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1025" y="3701355"/>
            <a:ext cx="16285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C7: Lakefront Recreation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81025" y="3853755"/>
            <a:ext cx="16285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• 38.1 min • 86% casual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2330053" y="3606105"/>
            <a:ext cx="1815852" cy="462855"/>
          </a:xfrm>
          <a:prstGeom prst="roundRect">
            <a:avLst>
              <a:gd name="adj" fmla="val 8232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344341" y="3606105"/>
            <a:ext cx="0" cy="462855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53878" y="3701355"/>
            <a:ext cx="16287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C4: Mixed Purpose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453878" y="3853755"/>
            <a:ext cx="16287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 • 15.7 min • 34% casual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336405" y="1728788"/>
            <a:ext cx="4515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TRIP DISTRIBUTION BY CLUSTER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336405" y="1970633"/>
            <a:ext cx="4426595" cy="1487686"/>
          </a:xfrm>
          <a:prstGeom prst="roundRect">
            <a:avLst>
              <a:gd name="adj" fmla="val 5122"/>
            </a:avLst>
          </a:prstGeom>
          <a:solidFill>
            <a:srgbClr val="F7F9FA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98330" y="2132558"/>
            <a:ext cx="41848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 Clusters (C0, C3, C6) — Bimodal Peak Pattern</a:t>
            </a:r>
            <a:endParaRPr lang="en-US" sz="675" dirty="0"/>
          </a:p>
        </p:txBody>
      </p:sp>
      <p:pic>
        <p:nvPicPr>
          <p:cNvPr id="39" name="Image 0" descr="/tmp/rasterized-gradient-2f15fc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30" y="2290614"/>
            <a:ext cx="4102745" cy="38100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4498330" y="2671614"/>
            <a:ext cx="41848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Leisure Clusters (C1, C2, C7) — Broad Midday Activity</a:t>
            </a:r>
            <a:endParaRPr lang="en-US" sz="675" dirty="0"/>
          </a:p>
        </p:txBody>
      </p:sp>
      <p:pic>
        <p:nvPicPr>
          <p:cNvPr id="41" name="Image 1" descr="/tmp/rasterized-gradient-e347c8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330" y="2829669"/>
            <a:ext cx="4102745" cy="3810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4336405" y="3553569"/>
            <a:ext cx="4426595" cy="546795"/>
          </a:xfrm>
          <a:prstGeom prst="roundRect">
            <a:avLst>
              <a:gd name="adj" fmla="val 10452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39"/>
          <p:cNvSpPr/>
          <p:nvPr/>
        </p:nvSpPr>
        <p:spPr>
          <a:xfrm>
            <a:off x="4355455" y="3553569"/>
            <a:ext cx="0" cy="546795"/>
          </a:xfrm>
          <a:prstGeom prst="line">
            <a:avLst/>
          </a:prstGeom>
          <a:noFill/>
          <a:ln w="38100">
            <a:solidFill>
              <a:srgbClr val="1A5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4488805" y="3667869"/>
            <a:ext cx="4243093" cy="318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Clusters emerge without intent labels, supporting z as interpretable trip intent representation.</a:t>
            </a:r>
            <a:endParaRPr lang="en-US" sz="825" dirty="0"/>
          </a:p>
        </p:txBody>
      </p:sp>
      <p:sp>
        <p:nvSpPr>
          <p:cNvPr id="45" name="Text 41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Shaded regions in full analysis mark commute windows (7-9am, 5-7pm). Temporal signatures validate behavioral mode interpretations.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60624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 via Reconstruction Scores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7825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RECONSTRUCTION-BASED ANOMALY SCORES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57200" y="1908721"/>
            <a:ext cx="4038600" cy="1491555"/>
          </a:xfrm>
          <a:prstGeom prst="roundRect">
            <a:avLst>
              <a:gd name="adj" fmla="val 5109"/>
            </a:avLst>
          </a:prstGeom>
          <a:solidFill>
            <a:srgbClr val="F7F9FA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2070646"/>
            <a:ext cx="292150" cy="762000"/>
          </a:xfrm>
          <a:prstGeom prst="roundRect">
            <a:avLst>
              <a:gd name="adj" fmla="val 6521"/>
            </a:avLst>
          </a:prstGeom>
          <a:solidFill>
            <a:srgbClr val="1A53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0325" y="2184946"/>
            <a:ext cx="292150" cy="647700"/>
          </a:xfrm>
          <a:prstGeom prst="roundRect">
            <a:avLst>
              <a:gd name="adj" fmla="val 6521"/>
            </a:avLst>
          </a:prstGeom>
          <a:solidFill>
            <a:srgbClr val="1A53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41524" y="2375446"/>
            <a:ext cx="292150" cy="457200"/>
          </a:xfrm>
          <a:prstGeom prst="roundRect">
            <a:avLst>
              <a:gd name="adj" fmla="val 6521"/>
            </a:avLst>
          </a:prstGeom>
          <a:solidFill>
            <a:srgbClr val="1A53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52724" y="2527846"/>
            <a:ext cx="292150" cy="304800"/>
          </a:xfrm>
          <a:prstGeom prst="roundRect">
            <a:avLst>
              <a:gd name="adj" fmla="val 6521"/>
            </a:avLst>
          </a:prstGeom>
          <a:solidFill>
            <a:srgbClr val="1A53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63923" y="2642146"/>
            <a:ext cx="292150" cy="190500"/>
          </a:xfrm>
          <a:prstGeom prst="roundRect">
            <a:avLst>
              <a:gd name="adj" fmla="val 10000"/>
            </a:avLst>
          </a:prstGeom>
          <a:solidFill>
            <a:srgbClr val="1A53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75123" y="2718346"/>
            <a:ext cx="292150" cy="114300"/>
          </a:xfrm>
          <a:prstGeom prst="roundRect">
            <a:avLst>
              <a:gd name="adj" fmla="val 16667"/>
            </a:avLst>
          </a:prstGeom>
          <a:solidFill>
            <a:srgbClr val="1A53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86323" y="2756446"/>
            <a:ext cx="292150" cy="76200"/>
          </a:xfrm>
          <a:prstGeom prst="roundRect">
            <a:avLst>
              <a:gd name="adj" fmla="val 25000"/>
            </a:avLst>
          </a:prstGeom>
          <a:solidFill>
            <a:srgbClr val="1A53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97522" y="2786955"/>
            <a:ext cx="292150" cy="45690"/>
          </a:xfrm>
          <a:prstGeom prst="roundRect">
            <a:avLst>
              <a:gd name="adj" fmla="val 41694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08722" y="2802285"/>
            <a:ext cx="292150" cy="30361"/>
          </a:xfrm>
          <a:prstGeom prst="roundRect">
            <a:avLst>
              <a:gd name="adj" fmla="val 62745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19921" y="2809875"/>
            <a:ext cx="292150" cy="22771"/>
          </a:xfrm>
          <a:prstGeom prst="roundRect">
            <a:avLst>
              <a:gd name="adj" fmla="val 83659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31121" y="2817465"/>
            <a:ext cx="292150" cy="15180"/>
          </a:xfrm>
          <a:prstGeom prst="roundRect">
            <a:avLst>
              <a:gd name="adj" fmla="val 125494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42321" y="2825055"/>
            <a:ext cx="292150" cy="7590"/>
          </a:xfrm>
          <a:prstGeom prst="roundRect">
            <a:avLst>
              <a:gd name="adj" fmla="val 250988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9125" y="2913608"/>
            <a:ext cx="3714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1978" y="3118396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 distribution with visible anomaly tail (log-scaled density)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57200" y="3514576"/>
            <a:ext cx="1962150" cy="666750"/>
          </a:xfrm>
          <a:prstGeom prst="roundRect">
            <a:avLst>
              <a:gd name="adj" fmla="val 8571"/>
            </a:avLst>
          </a:prstGeom>
          <a:solidFill>
            <a:srgbClr val="FEF9C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4165" y="3628876"/>
            <a:ext cx="1768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30,221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4165" y="3933676"/>
            <a:ext cx="17682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 at p95 (5.0%)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33650" y="3514576"/>
            <a:ext cx="1962150" cy="666750"/>
          </a:xfrm>
          <a:prstGeom prst="roundRect">
            <a:avLst>
              <a:gd name="adj" fmla="val 8571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30615" y="3628876"/>
            <a:ext cx="1768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6,045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30615" y="3933676"/>
            <a:ext cx="17682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 at p99 (1.0%)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24400" y="1349871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REVIEW OF TOP 200 ANOMALIES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724400" y="1610767"/>
            <a:ext cx="4038600" cy="2232422"/>
          </a:xfrm>
          <a:prstGeom prst="roundRect">
            <a:avLst>
              <a:gd name="adj" fmla="val 3413"/>
            </a:avLst>
          </a:prstGeom>
          <a:solidFill>
            <a:srgbClr val="F7F9FA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86325" y="1925092"/>
            <a:ext cx="3714750" cy="1143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6325" y="1925092"/>
            <a:ext cx="1262955" cy="114300"/>
          </a:xfrm>
          <a:prstGeom prst="rect">
            <a:avLst/>
          </a:prstGeom>
          <a:solidFill>
            <a:srgbClr val="1A53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86325" y="2058442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Atypical hours with inconsistent durations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886325" y="2426047"/>
            <a:ext cx="3714750" cy="1143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86325" y="2426047"/>
            <a:ext cx="1040011" cy="1143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86325" y="2559397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Uncommon rider type for time/station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886325" y="2927003"/>
            <a:ext cx="3714750" cy="1143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86325" y="2927003"/>
            <a:ext cx="780008" cy="11430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86325" y="3060353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station pairs outside corridors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886325" y="3427958"/>
            <a:ext cx="3714750" cy="1143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86325" y="3427958"/>
            <a:ext cx="631478" cy="114300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86325" y="3561308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Uncommon rideable for inferred context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724400" y="3957489"/>
            <a:ext cx="4038600" cy="521791"/>
          </a:xfrm>
          <a:prstGeom prst="roundRect">
            <a:avLst>
              <a:gd name="adj" fmla="val 10953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743450" y="3957489"/>
            <a:ext cx="0" cy="521791"/>
          </a:xfrm>
          <a:prstGeom prst="line">
            <a:avLst/>
          </a:prstGeom>
          <a:noFill/>
          <a:ln w="38100">
            <a:solidFill>
              <a:srgbClr val="1A5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76800" y="4071789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value:</a:t>
            </a:r>
            <a:r>
              <a:rPr lang="en-US" sz="825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Percentile thresholds provide tunable sensitivity for flagging unusual trips for review.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is unsupervised — no labeled anomalies required. Scores derived from reconstruction error in VAE framework.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400" dirty="0"/>
          </a:p>
        </p:txBody>
      </p:sp>
      <p:pic>
        <p:nvPicPr>
          <p:cNvPr id="3" name="Image 0" descr="/tmp/rasterized-gradient-269a6b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35248"/>
            <a:ext cx="4038600" cy="1745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187648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16620" y="1461939"/>
            <a:ext cx="35973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training improves all tasks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shared representations capture correlations between time, station, rider, and vehicle.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816620" y="1871514"/>
            <a:ext cx="3597316" cy="347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latent space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z clustering recovers meaningful behavioral modes (commute, leisure, tourism).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816620" y="2313831"/>
            <a:ext cx="35973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anomaly signal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reconstruction scores with percentile thresholds flag unusual trips without labels.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57200" y="2894856"/>
            <a:ext cx="4038600" cy="1899196"/>
          </a:xfrm>
          <a:prstGeom prst="roundRect">
            <a:avLst>
              <a:gd name="adj" fmla="val 300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76250" y="2894856"/>
            <a:ext cx="0" cy="189919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8650" y="302820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28650" y="3251002"/>
            <a:ext cx="3733800" cy="1409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sensitive to label handling and metric definitions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only trip-start features (no mid-trip dynamics)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factors (weather, events) not modeled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24400" y="1509861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724400" y="1770757"/>
            <a:ext cx="4038600" cy="546646"/>
          </a:xfrm>
          <a:prstGeom prst="roundRect">
            <a:avLst>
              <a:gd name="adj" fmla="val 10455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38700" y="188505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Extended Task Coverage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838700" y="2069753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destination prediction and rider type classification to the multi-task framework.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724400" y="2393603"/>
            <a:ext cx="4038600" cy="679996"/>
          </a:xfrm>
          <a:prstGeom prst="roundRect">
            <a:avLst>
              <a:gd name="adj" fmla="val 840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38700" y="2507903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Imbalance-Aware Training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38700" y="2692598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scooter classification (2.6% of data) through class-balanced sampling or focal loss.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24400" y="3149798"/>
            <a:ext cx="4038600" cy="546646"/>
          </a:xfrm>
          <a:prstGeom prst="roundRect">
            <a:avLst>
              <a:gd name="adj" fmla="val 10455"/>
            </a:avLst>
          </a:prstGeom>
          <a:solidFill>
            <a:srgbClr val="F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38700" y="326409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Calibrated Uncertainty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38700" y="3448794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calibrated prediction intervals for operational decision support.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24400" y="3772644"/>
            <a:ext cx="4038600" cy="546646"/>
          </a:xfrm>
          <a:prstGeom prst="roundRect">
            <a:avLst>
              <a:gd name="adj" fmla="val 10455"/>
            </a:avLst>
          </a:prstGeom>
          <a:solidFill>
            <a:srgbClr val="FEF9C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38700" y="3886944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Streaming Inference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38700" y="4071640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predictions as partial trajectory data becomes available during trips.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04800" y="4768155"/>
            <a:ext cx="4032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Acknowledgment: Prof. Jaerock Kwon (ECE 5831 instructor) and Aydin Zaboli (course grader)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693670" y="4754910"/>
            <a:ext cx="11684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53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 Questions?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1246</Words>
  <Application>Microsoft Office PowerPoint</Application>
  <PresentationFormat>On-screen Show (16:9)</PresentationFormat>
  <Paragraphs>232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Multi-Task Rider Behavior Modeling for Micromobility Systems</dc:title>
  <dc:subject>IEEE Conference Presentation</dc:subject>
  <dc:creator>Birva Sevak, Shrenik Jadhav</dc:creator>
  <cp:lastModifiedBy>Jadhav, Shrenik</cp:lastModifiedBy>
  <cp:revision>2</cp:revision>
  <dcterms:created xsi:type="dcterms:W3CDTF">2025-12-14T19:18:28Z</dcterms:created>
  <dcterms:modified xsi:type="dcterms:W3CDTF">2025-12-14T19:35:27Z</dcterms:modified>
</cp:coreProperties>
</file>